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11"/>
    <p:sldId id="261" r:id="rId7"/>
    <p:sldId id="264" r:id="rId10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6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ots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kl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0807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3716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AND SYSTEMS PROGRAMMING (25CS2104E)</a:t>
            </a:r>
            <a:endParaRPr lang="en-US" sz="15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214884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Copy-on-Write Memory Demonstrator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29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|  Team 20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9776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315968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2520030248 — K. Rishi Varma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2520030356 — K. Charith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2520030420 — K. Hitesh Reddy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492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6235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Soumya Enukonda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ots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kl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080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46120" y="292608"/>
            <a:ext cx="8641080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/>
          <a:effectLst>
            <a:outerShdw sx="100000" sy="100000" kx="0" ky="0" algn="bl" rotWithShape="0" blurRad="50800" dist="25400" dir="5400000">
              <a:srgbClr val="999999">
                <a:alpha val="35000"/>
              </a:srgbClr>
            </a:outerShdw>
          </a:effectLst>
        </p:spPr>
      </p:sp>
      <p:sp>
        <p:nvSpPr>
          <p:cNvPr id="5" name="Text 1"/>
          <p:cNvSpPr txBox="1"/>
          <p:nvPr/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Contents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8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8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8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/ Structure</a:t>
            </a:r>
            <a:endParaRPr lang="en-US" sz="18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18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ots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kl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080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46120" y="292608"/>
            <a:ext cx="8641080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/>
          <a:effectLst>
            <a:outerShdw sx="100000" sy="100000" kx="0" ky="0" algn="bl" rotWithShape="0" blurRad="50800" dist="25400" dir="5400000">
              <a:srgbClr val="999999">
                <a:alpha val="35000"/>
              </a:srgbClr>
            </a:outerShdw>
          </a:effectLst>
        </p:spPr>
      </p:sp>
      <p:sp>
        <p:nvSpPr>
          <p:cNvPr id="5" name="Text 1"/>
          <p:cNvSpPr txBox="1"/>
          <p:nvPr/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400000"/>
            <a:ext cx="11064240" cy="10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Copy-on-Write (COW) is a core Operating Systems optimisation that lets a process created by fork() share its parent’s memory pages instead of duplicating them. This project builds a demonstration system that shows how memory is shared after fork() and copied only when a process modifies it.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052000"/>
            <a:ext cx="11064240" cy="10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fork(), the parent and child map the same physical pages, marked read-only. A write by either process triggers a page fault, and the kernel allocates a private copy of just that page. The project involves designing Linux-based C programs that allocate memory, fork, and then read from and write to it in the child.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704000"/>
            <a:ext cx="11064240" cy="10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Page-fault counts from getrusage() and memory statistics from /proc/self/smaps make the sharing and copying visible. Developed and tested on Linux/Ubuntu using C and GCC, the expected outcome is a clear, measurable demonstration reinforcing process creation, virtual memory, and paging concepts.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ots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kl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080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46120" y="292608"/>
            <a:ext cx="8641080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/>
          <a:effectLst>
            <a:outerShdw sx="100000" sy="100000" kx="0" ky="0" algn="bl" rotWithShape="0" blurRad="50800" dist="25400" dir="5400000">
              <a:srgbClr val="999999">
                <a:alpha val="35000"/>
              </a:srgbClr>
            </a:outerShdw>
          </a:effectLst>
        </p:spPr>
      </p:sp>
      <p:sp>
        <p:nvSpPr>
          <p:cNvPr id="5" name="Text 1"/>
          <p:cNvSpPr txBox="1"/>
          <p:nvPr/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873000"/>
            <a:ext cx="11064240" cy="121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new process with fork() would be very expensive if the OS had to duplicate the parent’s entire address space. Copy-on-Write avoids this by sharing pages between parent and child and copying a page only when one of them writes to it.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115000"/>
            <a:ext cx="11064240" cy="121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project, “Copy-on-Write Memory Demonstrator,” builds a C program on Linux/Ubuntu that shows memory being shared after fork() and copied only on modification, with measurable evidence from page-fault counts and memory statistics.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ots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kl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080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46120" y="292608"/>
            <a:ext cx="8641080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/>
          <a:effectLst>
            <a:outerShdw sx="100000" sy="100000" kx="0" ky="0" algn="bl" rotWithShape="0" blurRad="50800" dist="25400" dir="5400000">
              <a:srgbClr val="999999">
                <a:alpha val="35000"/>
              </a:srgbClr>
            </a:outerShdw>
          </a:effectLst>
        </p:spPr>
      </p:sp>
      <p:sp>
        <p:nvSpPr>
          <p:cNvPr id="5" name="Text 1"/>
          <p:cNvSpPr txBox="1"/>
          <p:nvPr/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371600"/>
            <a:ext cx="1106424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2600"/>
              </a:spcAft>
              <a:buSzPct val="100000"/>
              <a:buChar char="●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COW, fork() must copy the parent’s whole address space, which is slow and wastes physical memory.</a:t>
            </a:r>
            <a:endParaRPr lang="en-US" sz="1800" dirty="0"/>
          </a:p>
          <a:p>
            <a:pPr marL="228600" indent="-228600">
              <a:lnSpc>
                <a:spcPct val="108000"/>
              </a:lnSpc>
              <a:spcAft>
                <a:spcPts val="2600"/>
              </a:spcAft>
              <a:buSzPct val="100000"/>
              <a:buChar char="●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that copied memory is never modified, especially when the child immediately calls exec().</a:t>
            </a:r>
            <a:endParaRPr lang="en-US" sz="1800" dirty="0"/>
          </a:p>
          <a:p>
            <a:pPr marL="228600" indent="-228600">
              <a:lnSpc>
                <a:spcPct val="108000"/>
              </a:lnSpc>
              <a:spcAft>
                <a:spcPts val="2600"/>
              </a:spcAft>
              <a:buSzPct val="100000"/>
              <a:buChar char="●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 happens silently inside the kernel, so students and developers cannot easily see when pages are shared or copied.</a:t>
            </a:r>
            <a:endParaRPr lang="en-US" sz="1800" dirty="0"/>
          </a:p>
          <a:p>
            <a:pPr marL="228600" indent="-228600">
              <a:lnSpc>
                <a:spcPct val="108000"/>
              </a:lnSpc>
              <a:spcAft>
                <a:spcPts val="2600"/>
              </a:spcAft>
              <a:buSzPct val="100000"/>
              <a:buChar char="●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diagrams explain the idea but give no measurable, hands-on evidence of the behaviour.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ots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kl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080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46120" y="292608"/>
            <a:ext cx="8641080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/>
          <a:effectLst>
            <a:outerShdw sx="100000" sy="100000" kx="0" ky="0" algn="bl" rotWithShape="0" blurRad="50800" dist="25400" dir="5400000">
              <a:srgbClr val="999999">
                <a:alpha val="35000"/>
              </a:srgbClr>
            </a:outerShdw>
          </a:effectLst>
        </p:spPr>
      </p:sp>
      <p:sp>
        <p:nvSpPr>
          <p:cNvPr id="5" name="Text 1"/>
          <p:cNvSpPr txBox="1"/>
          <p:nvPr/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System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371600"/>
            <a:ext cx="1106424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2600"/>
              </a:spcAft>
              <a:buSzPct val="100000"/>
              <a:buChar char="●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Allocates a large memory region in the parent and calls fork() to create a child process.</a:t>
            </a:r>
            <a:endParaRPr lang="en-US" sz="1700" dirty="0"/>
          </a:p>
          <a:p>
            <a:pPr marL="228600" indent="-228600">
              <a:lnSpc>
                <a:spcPct val="108000"/>
              </a:lnSpc>
              <a:spcAft>
                <a:spcPts val="2600"/>
              </a:spcAft>
              <a:buSzPct val="100000"/>
              <a:buChar char="●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pages shared after fork() by reading the child’s memory and reporting shared page statistics from /proc/self/smaps.</a:t>
            </a:r>
            <a:endParaRPr lang="en-US" sz="1700" dirty="0"/>
          </a:p>
          <a:p>
            <a:pPr marL="228600" indent="-228600">
              <a:lnSpc>
                <a:spcPct val="108000"/>
              </a:lnSpc>
              <a:spcAft>
                <a:spcPts val="2600"/>
              </a:spcAft>
              <a:buSzPct val="100000"/>
              <a:buChar char="●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child modify selected pages and uses getrusage() page-fault counts to show the kernel copying only those pages.</a:t>
            </a:r>
            <a:endParaRPr lang="en-US" sz="1700" dirty="0"/>
          </a:p>
          <a:p>
            <a:pPr marL="228600" indent="-228600">
              <a:lnSpc>
                <a:spcPct val="108000"/>
              </a:lnSpc>
              <a:spcAft>
                <a:spcPts val="2600"/>
              </a:spcAft>
              <a:buSzPct val="100000"/>
              <a:buChar char="●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isolation: the parent’s data stays unchanged after the child writes, confirming each process has its own private copy.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ots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kl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080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46120" y="292608"/>
            <a:ext cx="8641080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/>
          <a:effectLst>
            <a:outerShdw sx="100000" sy="100000" kx="0" ky="0" algn="bl" rotWithShape="0" blurRad="50800" dist="25400" dir="5400000">
              <a:srgbClr val="999999">
                <a:alpha val="35000"/>
              </a:srgbClr>
            </a:outerShdw>
          </a:effectLst>
        </p:spPr>
      </p:sp>
      <p:sp>
        <p:nvSpPr>
          <p:cNvPr id="5" name="Text 1"/>
          <p:cNvSpPr txBox="1"/>
          <p:nvPr/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Workflow / Structure</a:t>
            </a:r>
            <a:endParaRPr lang="en-US" sz="2200" dirty="0"/>
          </a:p>
        </p:txBody>
      </p:sp>
      <p:sp>
        <p:nvSpPr>
          <p:cNvPr id="6" name="Oval 5"/>
          <p:cNvSpPr/>
          <p:nvPr/>
        </p:nvSpPr>
        <p:spPr>
          <a:xfrm>
            <a:off x="594360" y="1234440"/>
            <a:ext cx="2377440" cy="658368"/>
          </a:xfrm>
          <a:prstGeom prst="ellipse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234440"/>
            <a:ext cx="2377440" cy="658368"/>
          </a:xfrm>
          <a:prstGeom prst="roundRect">
            <a:avLst/>
          </a:prstGeom>
          <a:solidFill>
            <a:srgbClr val="FDF0F0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Allocate Memory</a:t>
            </a:r>
          </a:p>
          <a:p>
            <a:pPr algn="ctr"/>
            <a:r>
              <a:rPr sz="1050" b="0" i="1">
                <a:solidFill>
                  <a:srgbClr val="262626"/>
                </a:solidFill>
                <a:latin typeface="Consolas"/>
              </a:rPr>
              <a:t>malloc() / mmap()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234440"/>
            <a:ext cx="2377440" cy="658368"/>
          </a:xfrm>
          <a:prstGeom prst="roundRect">
            <a:avLst/>
          </a:prstGeom>
          <a:solidFill>
            <a:srgbClr val="FDF0F0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Fork Child Process</a:t>
            </a:r>
          </a:p>
          <a:p>
            <a:pPr algn="ctr"/>
            <a:r>
              <a:rPr sz="1050" b="0" i="1">
                <a:solidFill>
                  <a:srgbClr val="262626"/>
                </a:solidFill>
                <a:latin typeface="Consolas"/>
              </a:rPr>
              <a:t>fork()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1234440"/>
            <a:ext cx="2377440" cy="658368"/>
          </a:xfrm>
          <a:prstGeom prst="roundRect">
            <a:avLst/>
          </a:prstGeom>
          <a:solidFill>
            <a:srgbClr val="FDF0F0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Pages Shared (Read-Only)</a:t>
            </a:r>
          </a:p>
          <a:p>
            <a:pPr algn="ctr"/>
            <a:r>
              <a:rPr sz="1050" b="0" i="1">
                <a:solidFill>
                  <a:srgbClr val="262626"/>
                </a:solidFill>
                <a:latin typeface="Consolas"/>
              </a:rPr>
              <a:t>/proc/self/smaps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3063240"/>
            <a:ext cx="2377440" cy="658368"/>
          </a:xfrm>
          <a:prstGeom prst="roundRect">
            <a:avLst/>
          </a:prstGeom>
          <a:solidFill>
            <a:srgbClr val="FDF0F0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Child Writes to Page</a:t>
            </a:r>
          </a:p>
          <a:p>
            <a:pPr algn="ctr"/>
            <a:r>
              <a:rPr sz="1050" b="0" i="1">
                <a:solidFill>
                  <a:srgbClr val="262626"/>
                </a:solidFill>
                <a:latin typeface="Consolas"/>
              </a:rPr>
              <a:t>write → page fault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3063240"/>
            <a:ext cx="2377440" cy="658368"/>
          </a:xfrm>
          <a:prstGeom prst="roundRect">
            <a:avLst/>
          </a:prstGeom>
          <a:solidFill>
            <a:srgbClr val="FDF0F0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Kernel Copies the Page</a:t>
            </a:r>
          </a:p>
          <a:p>
            <a:pPr algn="ctr"/>
            <a:r>
              <a:rPr sz="1050" b="0" i="1">
                <a:solidFill>
                  <a:srgbClr val="262626"/>
                </a:solidFill>
                <a:latin typeface="Consolas"/>
              </a:rPr>
              <a:t>private copy (COW)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3063240"/>
            <a:ext cx="2377440" cy="658368"/>
          </a:xfrm>
          <a:prstGeom prst="roundRect">
            <a:avLst/>
          </a:prstGeom>
          <a:solidFill>
            <a:srgbClr val="FDF0F0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Compare &amp; Validate</a:t>
            </a:r>
          </a:p>
          <a:p>
            <a:pPr algn="ctr"/>
            <a:r>
              <a:rPr sz="1050" b="0" i="1">
                <a:solidFill>
                  <a:srgbClr val="262626"/>
                </a:solidFill>
                <a:latin typeface="Consolas"/>
              </a:rPr>
              <a:t>getrusage(), waitpid()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3063240"/>
            <a:ext cx="2377440" cy="658368"/>
          </a:xfrm>
          <a:prstGeom prst="ellipse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END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985516" y="1435607"/>
            <a:ext cx="320040" cy="256032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5682996" y="1435607"/>
            <a:ext cx="320040" cy="256032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8380476" y="1435607"/>
            <a:ext cx="320040" cy="256032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9747504" y="1947672"/>
            <a:ext cx="256032" cy="1060703"/>
          </a:xfrm>
          <a:prstGeom prst="down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eft Arrow 17"/>
          <p:cNvSpPr/>
          <p:nvPr/>
        </p:nvSpPr>
        <p:spPr>
          <a:xfrm>
            <a:off x="8380476" y="3264408"/>
            <a:ext cx="320040" cy="256032"/>
          </a:xfrm>
          <a:prstGeom prst="lef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eft Arrow 18"/>
          <p:cNvSpPr/>
          <p:nvPr/>
        </p:nvSpPr>
        <p:spPr>
          <a:xfrm>
            <a:off x="5682996" y="3264408"/>
            <a:ext cx="320040" cy="256032"/>
          </a:xfrm>
          <a:prstGeom prst="lef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eft Arrow 19"/>
          <p:cNvSpPr/>
          <p:nvPr/>
        </p:nvSpPr>
        <p:spPr>
          <a:xfrm>
            <a:off x="2985516" y="3264408"/>
            <a:ext cx="320040" cy="256032"/>
          </a:xfrm>
          <a:prstGeom prst="lef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0690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595959"/>
                </a:solidFill>
              </a:rPr>
              <a:t>Implemented in C on Linux/Ubuntu · compiled with GCC · verified by capturing terminal outputs · version-controlled on GitHub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ots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kl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080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46120" y="292608"/>
            <a:ext cx="8641080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/>
          <a:effectLst>
            <a:outerShdw sx="100000" sy="100000" kx="0" ky="0" algn="bl" rotWithShape="0" blurRad="50800" dist="25400" dir="5400000">
              <a:srgbClr val="999999">
                <a:alpha val="35000"/>
              </a:srgbClr>
            </a:outerShdw>
          </a:effectLst>
        </p:spPr>
      </p:sp>
      <p:sp>
        <p:nvSpPr>
          <p:cNvPr id="5" name="Text 1"/>
          <p:cNvSpPr txBox="1"/>
          <p:nvPr/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 Requirements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4088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/ Platform / Software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/ Ubuntu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and execution environment for the project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/ C++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language for the Copy-on-Write demonstration programs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GCC Compiler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Compiling C programs that use fork(), mmap(), and getrusage()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/proc Filesystem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smaps and statm files for observing shared and private pages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/ VS Code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control, source code editing, and debugging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ots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kl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080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246120" y="292608"/>
            <a:ext cx="8641080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/>
          <a:effectLst>
            <a:outerShdw sx="100000" sy="100000" kx="0" ky="0" algn="bl" rotWithShape="0" blurRad="50800" dist="25400" dir="5400000">
              <a:srgbClr val="999999">
                <a:alpha val="35000"/>
              </a:srgbClr>
            </a:outerShdw>
          </a:effectLst>
        </p:spPr>
      </p:sp>
      <p:sp>
        <p:nvSpPr>
          <p:cNvPr id="5" name="Text 1"/>
          <p:cNvSpPr txBox="1"/>
          <p:nvPr/>
        </p:nvSpPr>
        <p:spPr>
          <a:xfrm>
            <a:off x="3246120" y="292608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1234440"/>
            <a:ext cx="110642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2600"/>
              </a:spcAft>
              <a:buSzPct val="100000"/>
              <a:buChar char="●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 Linux-based C program demonstrates Copy-on-Write: memory is shared after fork() and copied only when a process modifies it.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2600"/>
              </a:spcAft>
              <a:buSzPct val="100000"/>
              <a:buChar char="●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Page-fault counts and /proc memory statistics show that reads cause no copying, while each written page triggers exactly one private copy.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2600"/>
              </a:spcAft>
              <a:buSzPct val="100000"/>
              <a:buChar char="●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reinforces core OS concepts: process creation, virtual memory, paging, and page-fault handling.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2600"/>
              </a:spcAft>
              <a:buSzPct val="100000"/>
              <a:buChar char="●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includes comparing COW with eager copying, adding timing benchmarks, and visualising page states in a graphical interface.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ots.jpe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914400" y="3566160"/>
            <a:ext cx="4206240" cy="4206240"/>
          </a:xfrm>
          <a:prstGeom prst="rect">
            <a:avLst/>
          </a:prstGeom>
        </p:spPr>
      </p:pic>
      <p:pic>
        <p:nvPicPr>
          <p:cNvPr id="3" name="Image 1" descr="/home/claude/kl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6032"/>
            <a:ext cx="1417320" cy="60807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453128" y="2880360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C00000"/>
          </a:solidFill>
          <a:ln/>
          <a:effectLst>
            <a:outerShdw sx="100000" sy="100000" kx="0" ky="0" algn="bl" rotWithShape="0" blurRad="50800" dist="25400" dir="5400000">
              <a:srgbClr val="999999">
                <a:alpha val="35000"/>
              </a:srgbClr>
            </a:outerShdw>
          </a:effectLst>
        </p:spPr>
      </p:sp>
      <p:sp>
        <p:nvSpPr>
          <p:cNvPr id="5" name="Text 1"/>
          <p:cNvSpPr txBox="1"/>
          <p:nvPr/>
        </p:nvSpPr>
        <p:spPr>
          <a:xfrm>
            <a:off x="4453128" y="28803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Copy-on-Write Memory Demonstrator</dc:title>
  <dc:subject>Copy-on-Write Memory Demonstrator</dc:subject>
  <dc:creator>PptxGenJS</dc:creator>
  <cp:lastModifiedBy>PptxGenJS</cp:lastModifiedBy>
  <cp:revision>1</cp:revision>
  <dcterms:created xsi:type="dcterms:W3CDTF">2026-08-31T04:37:53Z</dcterms:created>
  <dcterms:modified xsi:type="dcterms:W3CDTF">2026-08-31T04:37:53Z</dcterms:modified>
</cp:coreProperties>
</file>